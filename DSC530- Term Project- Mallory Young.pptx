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0"/>
  </p:notesMasterIdLst>
  <p:handoutMasterIdLst>
    <p:handoutMasterId r:id="rId31"/>
  </p:handoutMasterIdLst>
  <p:sldIdLst>
    <p:sldId id="256" r:id="rId5"/>
    <p:sldId id="276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2" r:id="rId16"/>
    <p:sldId id="333" r:id="rId17"/>
    <p:sldId id="334" r:id="rId18"/>
    <p:sldId id="318" r:id="rId19"/>
    <p:sldId id="319" r:id="rId20"/>
    <p:sldId id="320" r:id="rId21"/>
    <p:sldId id="321" r:id="rId22"/>
    <p:sldId id="294" r:id="rId23"/>
    <p:sldId id="314" r:id="rId24"/>
    <p:sldId id="303" r:id="rId25"/>
    <p:sldId id="310" r:id="rId26"/>
    <p:sldId id="262" r:id="rId27"/>
    <p:sldId id="263" r:id="rId28"/>
    <p:sldId id="27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0" autoAdjust="0"/>
    <p:restoredTop sz="89710" autoAdjust="0"/>
  </p:normalViewPr>
  <p:slideViewPr>
    <p:cSldViewPr snapToGrid="0">
      <p:cViewPr varScale="1">
        <p:scale>
          <a:sx n="56" d="100"/>
          <a:sy n="56" d="100"/>
        </p:scale>
        <p:origin x="7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4/14/2024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4/14/2024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234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851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643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589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785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022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583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934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013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581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587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090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128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799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219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4E7C-9E57-0AB5-391B-9D0DFED7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D3DBA-BCB5-E76D-AD60-F6667E7AA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0C4AA-7073-365D-83F7-6886D7226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967DC-ADFA-F97C-3DB2-9CA137003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3445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Hoves"/>
                <a:cs typeface="Times New Roman" panose="02020603050405020304" pitchFamily="18" charset="0"/>
              </a:rPr>
              <a:t>Every project has a start and an end (</a:t>
            </a:r>
            <a:r>
              <a:rPr lang="en-US" sz="1100" dirty="0">
                <a:effectLst/>
              </a:rPr>
              <a:t>Bridges, J., 2015).</a:t>
            </a:r>
            <a:endParaRPr lang="en-US" sz="1100" dirty="0">
              <a:latin typeface="Hove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04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91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255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865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7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72BD8-063E-43A6-8CFC-528BBE940119}"/>
              </a:ext>
            </a:extLst>
          </p:cNvPr>
          <p:cNvSpPr/>
          <p:nvPr/>
        </p:nvSpPr>
        <p:spPr>
          <a:xfrm>
            <a:off x="263085" y="3150592"/>
            <a:ext cx="11660809" cy="3494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4284705"/>
            <a:ext cx="10993549" cy="895244"/>
          </a:xfrm>
        </p:spPr>
        <p:txBody>
          <a:bodyPr>
            <a:noAutofit/>
          </a:bodyPr>
          <a:lstStyle/>
          <a:p>
            <a:pPr algn="ctr"/>
            <a:r>
              <a:rPr lang="en-US" sz="6000" cap="none" dirty="0">
                <a:solidFill>
                  <a:schemeClr val="bg1"/>
                </a:solidFill>
              </a:rPr>
              <a:t>Data Exploration &amp; Analysis </a:t>
            </a:r>
            <a:br>
              <a:rPr lang="en-US" sz="6000" cap="none" dirty="0">
                <a:solidFill>
                  <a:schemeClr val="bg1"/>
                </a:solidFill>
              </a:rPr>
            </a:br>
            <a:r>
              <a:rPr lang="en-US" sz="6000" cap="none" dirty="0">
                <a:solidFill>
                  <a:schemeClr val="bg1"/>
                </a:solidFill>
              </a:rPr>
              <a:t>Term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292" y="5179949"/>
            <a:ext cx="10993546" cy="1464813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7CEBFF"/>
                </a:solidFill>
              </a:rPr>
              <a:t>DSC 530 – Week 12</a:t>
            </a:r>
          </a:p>
          <a:p>
            <a:r>
              <a:rPr lang="en-US" sz="2200" dirty="0">
                <a:solidFill>
                  <a:srgbClr val="7CEBFF"/>
                </a:solidFill>
              </a:rPr>
              <a:t>Mallory  Young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90"/>
    </mc:Choice>
    <mc:Fallback xmlns="">
      <p:transition spd="slow" advTm="55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EFF"/>
                </a:solidFill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12261B-88CB-4952-A422-D9FB3CD98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453" y="2120194"/>
            <a:ext cx="11290859" cy="4874965"/>
          </a:xfrm>
        </p:spPr>
        <p:txBody>
          <a:bodyPr anchor="t">
            <a:noAutofit/>
          </a:bodyPr>
          <a:lstStyle/>
          <a:p>
            <a:r>
              <a:rPr lang="en-US" sz="2600" dirty="0"/>
              <a:t>Statistical Question .................................................................................................. Slide 3 </a:t>
            </a:r>
          </a:p>
          <a:p>
            <a:r>
              <a:rPr lang="en-US" sz="2600" dirty="0"/>
              <a:t>Variables Used During Analysis ............................................................................. Slide 4</a:t>
            </a:r>
          </a:p>
          <a:p>
            <a:r>
              <a:rPr lang="en-US" sz="2600" dirty="0"/>
              <a:t>Variable Histograms &amp; Descriptive Statistics ................................................ Slides 5-9</a:t>
            </a:r>
          </a:p>
          <a:p>
            <a:r>
              <a:rPr lang="en-US" sz="2600" dirty="0">
                <a:highlight>
                  <a:srgbClr val="FFFF00"/>
                </a:highlight>
              </a:rPr>
              <a:t>Outlier Identification and Handling .................................................................... Slide 10</a:t>
            </a:r>
          </a:p>
          <a:p>
            <a:r>
              <a:rPr lang="en-US" sz="2600" dirty="0">
                <a:highlight>
                  <a:srgbClr val="FFFF00"/>
                </a:highlight>
              </a:rPr>
              <a:t>Project Handover .................................................................................................. Slide 11 </a:t>
            </a:r>
          </a:p>
          <a:p>
            <a:r>
              <a:rPr lang="en-US" sz="2600" dirty="0">
                <a:highlight>
                  <a:srgbClr val="FFFF00"/>
                </a:highlight>
              </a:rPr>
              <a:t>Conclusion .............................................................................................................. Slide 12 </a:t>
            </a:r>
          </a:p>
          <a:p>
            <a:r>
              <a:rPr lang="en-US" sz="2600" dirty="0">
                <a:highlight>
                  <a:srgbClr val="FFFF00"/>
                </a:highlight>
              </a:rPr>
              <a:t>References ................................................................................................................ Slide13</a:t>
            </a:r>
          </a:p>
          <a:p>
            <a:r>
              <a:rPr lang="en-US" sz="2600" dirty="0">
                <a:highlight>
                  <a:srgbClr val="FFFF00"/>
                </a:highlight>
              </a:rPr>
              <a:t>Image References .................................................................................................... Slide14</a:t>
            </a:r>
          </a:p>
        </p:txBody>
      </p:sp>
    </p:spTree>
    <p:extLst>
      <p:ext uri="{BB962C8B-B14F-4D97-AF65-F5344CB8AC3E}">
        <p14:creationId xmlns:p14="http://schemas.microsoft.com/office/powerpoint/2010/main" val="346695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19"/>
    </mc:Choice>
    <mc:Fallback xmlns="">
      <p:transition spd="slow" advTm="52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Statistical Question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12261B-88CB-4952-A422-D9FB3CD98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70" y="2137410"/>
            <a:ext cx="11470920" cy="1724829"/>
          </a:xfrm>
        </p:spPr>
        <p:txBody>
          <a:bodyPr anchor="t">
            <a:normAutofit/>
          </a:bodyPr>
          <a:lstStyle/>
          <a:p>
            <a:r>
              <a:rPr lang="en-US" sz="3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Is there a correlation between secondary school age student alcohol consumption and student absenteeism or poor academic performance?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51526-E089-CEA3-27F8-D2F08D6D1EC1}"/>
              </a:ext>
            </a:extLst>
          </p:cNvPr>
          <p:cNvSpPr txBox="1"/>
          <p:nvPr/>
        </p:nvSpPr>
        <p:spPr>
          <a:xfrm>
            <a:off x="11223490" y="3862239"/>
            <a:ext cx="83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BBC, 2014</a:t>
            </a:r>
          </a:p>
        </p:txBody>
      </p:sp>
      <p:pic>
        <p:nvPicPr>
          <p:cNvPr id="1026" name="Picture 2" descr="Smoking, drinking and drug use down in young, report says - BBC News">
            <a:extLst>
              <a:ext uri="{FF2B5EF4-FFF2-40B4-BE49-F238E27FC236}">
                <a16:creationId xmlns:a16="http://schemas.microsoft.com/office/drawing/2014/main" id="{C0549C74-AE22-6729-663B-80BF38E7A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4139238"/>
            <a:ext cx="4691114" cy="2638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A12261B-88CB-4952-A422-D9FB3CD98218}"/>
              </a:ext>
            </a:extLst>
          </p:cNvPr>
          <p:cNvSpPr txBox="1">
            <a:spLocks/>
          </p:cNvSpPr>
          <p:nvPr/>
        </p:nvSpPr>
        <p:spPr>
          <a:xfrm>
            <a:off x="128536" y="3966686"/>
            <a:ext cx="6855194" cy="28572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 Data Set</a:t>
            </a:r>
            <a:r>
              <a:rPr lang="en-US" sz="3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</a:t>
            </a:r>
            <a:endParaRPr lang="en-US" sz="3200" dirty="0">
              <a:solidFill>
                <a:srgbClr val="3C4043"/>
              </a:solidFill>
              <a:highlight>
                <a:srgbClr val="FFFFFF"/>
              </a:highlight>
              <a:latin typeface="Inter"/>
            </a:endParaRPr>
          </a:p>
          <a:p>
            <a:pPr lvl="2"/>
            <a:r>
              <a:rPr lang="en-US" sz="2800" dirty="0">
                <a:solidFill>
                  <a:srgbClr val="3C4043"/>
                </a:solidFill>
                <a:highlight>
                  <a:srgbClr val="FFFFFF"/>
                </a:highlight>
                <a:latin typeface="Inter"/>
              </a:rPr>
              <a:t>This data was obtained in a survey of students taking math and reading courses in secondary school. This survey conducted by the University Of </a:t>
            </a:r>
            <a:r>
              <a:rPr lang="en-US" sz="2800" dirty="0" err="1">
                <a:solidFill>
                  <a:srgbClr val="3C4043"/>
                </a:solidFill>
                <a:highlight>
                  <a:srgbClr val="FFFFFF"/>
                </a:highlight>
                <a:latin typeface="Inter"/>
              </a:rPr>
              <a:t>Camerino</a:t>
            </a:r>
            <a:r>
              <a:rPr lang="en-US" sz="2800" dirty="0">
                <a:solidFill>
                  <a:srgbClr val="3C4043"/>
                </a:solidFill>
                <a:highlight>
                  <a:srgbClr val="FFFFFF"/>
                </a:highlight>
                <a:latin typeface="Inter"/>
              </a:rPr>
              <a:t> contains social, gender and academic information about students</a:t>
            </a:r>
            <a:endParaRPr lang="en-US" sz="2800" dirty="0">
              <a:solidFill>
                <a:srgbClr val="1D252C"/>
              </a:solidFill>
              <a:latin typeface="Hove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98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Variables Used During Analysis</a:t>
            </a:r>
            <a:endParaRPr lang="en-US" sz="4000" dirty="0">
              <a:solidFill>
                <a:srgbClr val="FFFEFF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45C51BD-46C4-E8A8-1CA6-892C6953A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04907"/>
              </p:ext>
            </p:extLst>
          </p:nvPr>
        </p:nvGraphicFramePr>
        <p:xfrm>
          <a:off x="887330" y="2097494"/>
          <a:ext cx="10460355" cy="372532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462429">
                  <a:extLst>
                    <a:ext uri="{9D8B030D-6E8A-4147-A177-3AD203B41FA5}">
                      <a16:colId xmlns:a16="http://schemas.microsoft.com/office/drawing/2014/main" val="3919640400"/>
                    </a:ext>
                  </a:extLst>
                </a:gridCol>
                <a:gridCol w="3013449">
                  <a:extLst>
                    <a:ext uri="{9D8B030D-6E8A-4147-A177-3AD203B41FA5}">
                      <a16:colId xmlns:a16="http://schemas.microsoft.com/office/drawing/2014/main" val="3448549426"/>
                    </a:ext>
                  </a:extLst>
                </a:gridCol>
                <a:gridCol w="4984477">
                  <a:extLst>
                    <a:ext uri="{9D8B030D-6E8A-4147-A177-3AD203B41FA5}">
                      <a16:colId xmlns:a16="http://schemas.microsoft.com/office/drawing/2014/main" val="3987761285"/>
                    </a:ext>
                  </a:extLst>
                </a:gridCol>
              </a:tblGrid>
              <a:tr h="486545">
                <a:tc>
                  <a:txBody>
                    <a:bodyPr/>
                    <a:lstStyle/>
                    <a:p>
                      <a:r>
                        <a:rPr lang="en-US" sz="24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46909"/>
                  </a:ext>
                </a:extLst>
              </a:tr>
              <a:tr h="649674">
                <a:tc>
                  <a:txBody>
                    <a:bodyPr/>
                    <a:lstStyle/>
                    <a:p>
                      <a:r>
                        <a:rPr lang="en-US" dirty="0" err="1"/>
                        <a:t>Dalc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School day alcohol consumption </a:t>
                      </a:r>
                    </a:p>
                    <a:p>
                      <a:r>
                        <a:rPr lang="en-US" dirty="0"/>
                        <a:t>  (from 1 - very low to 5 - very 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431414"/>
                  </a:ext>
                </a:extLst>
              </a:tr>
              <a:tr h="649674">
                <a:tc>
                  <a:txBody>
                    <a:bodyPr/>
                    <a:lstStyle/>
                    <a:p>
                      <a:r>
                        <a:rPr lang="en-US" dirty="0" err="1"/>
                        <a:t>Walc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Weekend alcohol consumption </a:t>
                      </a:r>
                    </a:p>
                    <a:p>
                      <a:r>
                        <a:rPr lang="en-US" dirty="0"/>
                        <a:t>  (from 1 - very low to 5 - very 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87673"/>
                  </a:ext>
                </a:extLst>
              </a:tr>
              <a:tr h="649674">
                <a:tc>
                  <a:txBody>
                    <a:bodyPr/>
                    <a:lstStyle/>
                    <a:p>
                      <a:r>
                        <a:rPr lang="en-US" dirty="0"/>
                        <a:t>absences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school absences </a:t>
                      </a:r>
                    </a:p>
                    <a:p>
                      <a:r>
                        <a:rPr lang="en-US" dirty="0"/>
                        <a:t>  (from 0 to 93)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84508"/>
                  </a:ext>
                </a:extLst>
              </a:tr>
              <a:tr h="649674">
                <a:tc>
                  <a:txBody>
                    <a:bodyPr/>
                    <a:lstStyle/>
                    <a:p>
                      <a:r>
                        <a:rPr lang="en-US" dirty="0"/>
                        <a:t>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Math final grade</a:t>
                      </a:r>
                    </a:p>
                    <a:p>
                      <a:r>
                        <a:rPr lang="en-US" dirty="0"/>
                        <a:t>  (from 0 to 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79446"/>
                  </a:ext>
                </a:extLst>
              </a:tr>
              <a:tr h="486545">
                <a:tc>
                  <a:txBody>
                    <a:bodyPr/>
                    <a:lstStyle/>
                    <a:p>
                      <a:r>
                        <a:rPr lang="en-US" dirty="0"/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Reading final grade</a:t>
                      </a:r>
                    </a:p>
                    <a:p>
                      <a:r>
                        <a:rPr lang="en-US" dirty="0"/>
                        <a:t>   (from 0 to 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81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4F000B6-21D0-A242-F0FD-1187820B9AA4}"/>
              </a:ext>
            </a:extLst>
          </p:cNvPr>
          <p:cNvSpPr txBox="1"/>
          <p:nvPr/>
        </p:nvSpPr>
        <p:spPr>
          <a:xfrm>
            <a:off x="581025" y="6027726"/>
            <a:ext cx="107666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Additionally, </a:t>
            </a:r>
            <a:r>
              <a:rPr lang="en-US" sz="2200" i="1" dirty="0" err="1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caseid</a:t>
            </a:r>
            <a:r>
              <a:rPr lang="en-US" sz="2200" i="1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(type: int32) was added to use as an identifier for referencing specific students.</a:t>
            </a:r>
          </a:p>
        </p:txBody>
      </p:sp>
    </p:spTree>
    <p:extLst>
      <p:ext uri="{BB962C8B-B14F-4D97-AF65-F5344CB8AC3E}">
        <p14:creationId xmlns:p14="http://schemas.microsoft.com/office/powerpoint/2010/main" val="31151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 err="1"/>
              <a:t>Dalc</a:t>
            </a:r>
            <a:r>
              <a:rPr lang="en-US" sz="4000" cap="none" dirty="0"/>
              <a:t> Histogram &amp; Descriptive Statistics</a:t>
            </a:r>
            <a:endParaRPr lang="en-US" sz="4000" dirty="0">
              <a:solidFill>
                <a:srgbClr val="FFFE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2CB46-FB00-5845-C8F8-7CD4DCA3E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7542"/>
            <a:ext cx="6763702" cy="4920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57EDDC-648E-9BC2-3218-E64B47172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112" y="1937542"/>
            <a:ext cx="3599498" cy="2851087"/>
          </a:xfrm>
          <a:prstGeom prst="rect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ADFE18A-FF3C-CAE3-AB18-3AFD03FA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7522" y="5029200"/>
            <a:ext cx="5108258" cy="1725929"/>
          </a:xfrm>
        </p:spPr>
        <p:txBody>
          <a:bodyPr anchor="t">
            <a:normAutofit/>
          </a:bodyPr>
          <a:lstStyle/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Spread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Asymmetric distribution; right skewed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Tails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Tail to extending to the right</a:t>
            </a:r>
          </a:p>
        </p:txBody>
      </p:sp>
    </p:spTree>
    <p:extLst>
      <p:ext uri="{BB962C8B-B14F-4D97-AF65-F5344CB8AC3E}">
        <p14:creationId xmlns:p14="http://schemas.microsoft.com/office/powerpoint/2010/main" val="251822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 err="1"/>
              <a:t>Walc</a:t>
            </a:r>
            <a:r>
              <a:rPr lang="en-US" sz="4000" cap="none" dirty="0"/>
              <a:t> Histogram &amp; Descriptive Statistics</a:t>
            </a:r>
            <a:endParaRPr lang="en-US" sz="4000" dirty="0">
              <a:solidFill>
                <a:srgbClr val="FFFE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B3D7B-9705-1DD2-E81B-0A51E6FB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0" y="1929907"/>
            <a:ext cx="6540331" cy="49204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E01213-9F04-39D8-ECFE-C5298D5A8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113" y="2035077"/>
            <a:ext cx="3599498" cy="278784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5DE2DBB-C134-45F6-C91C-2531EEC47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4662" y="5029200"/>
            <a:ext cx="5098768" cy="1725929"/>
          </a:xfrm>
        </p:spPr>
        <p:txBody>
          <a:bodyPr anchor="t">
            <a:normAutofit/>
          </a:bodyPr>
          <a:lstStyle/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Spread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Asymmetric distribution; right skewed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Tails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Tail extending to the right</a:t>
            </a:r>
          </a:p>
        </p:txBody>
      </p:sp>
    </p:spTree>
    <p:extLst>
      <p:ext uri="{BB962C8B-B14F-4D97-AF65-F5344CB8AC3E}">
        <p14:creationId xmlns:p14="http://schemas.microsoft.com/office/powerpoint/2010/main" val="152381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absences Histogram &amp; Descriptive Statistics</a:t>
            </a:r>
            <a:endParaRPr lang="en-US" sz="4000" dirty="0">
              <a:solidFill>
                <a:srgbClr val="FFFE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B7FAE-D905-1B8D-9FC8-F341B88F8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933327"/>
            <a:ext cx="6612255" cy="49246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A9C75A-291A-BBAE-DB7B-B6410198B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646" y="1986489"/>
            <a:ext cx="4165923" cy="2885021"/>
          </a:xfrm>
          <a:prstGeom prst="rect">
            <a:avLst/>
          </a:prstGeom>
          <a:ln w="19050">
            <a:solidFill>
              <a:srgbClr val="00FFFF"/>
            </a:solidFill>
          </a:ln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E3A2F4C4-8422-2C93-541B-60AAE17FF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6102" y="5040630"/>
            <a:ext cx="5045393" cy="1725929"/>
          </a:xfrm>
        </p:spPr>
        <p:txBody>
          <a:bodyPr anchor="t">
            <a:normAutofit/>
          </a:bodyPr>
          <a:lstStyle/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Spread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Asymmetric distribution; right skewed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Tails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Tail to extending far to the right (outlier data identified)</a:t>
            </a:r>
          </a:p>
        </p:txBody>
      </p:sp>
    </p:spTree>
    <p:extLst>
      <p:ext uri="{BB962C8B-B14F-4D97-AF65-F5344CB8AC3E}">
        <p14:creationId xmlns:p14="http://schemas.microsoft.com/office/powerpoint/2010/main" val="326527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/>
              <a:t>Math Histogram &amp; Descriptive Statistics</a:t>
            </a:r>
            <a:endParaRPr lang="en-US" sz="4000" dirty="0">
              <a:solidFill>
                <a:srgbClr val="FFFE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1957F-AE04-AF0D-3A44-C9A63DD39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2196"/>
            <a:ext cx="6560735" cy="49032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C3D13-72B5-F682-3816-7FC377622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141" y="2003456"/>
            <a:ext cx="3617765" cy="2851087"/>
          </a:xfrm>
          <a:prstGeom prst="rect">
            <a:avLst/>
          </a:prstGeom>
          <a:ln w="19050">
            <a:solidFill>
              <a:srgbClr val="FF5050"/>
            </a:solidFill>
          </a:ln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D5781CE-CBCF-4FBF-D04D-B9E60482F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092" y="5039472"/>
            <a:ext cx="5045393" cy="1725929"/>
          </a:xfrm>
        </p:spPr>
        <p:txBody>
          <a:bodyPr anchor="t">
            <a:normAutofit/>
          </a:bodyPr>
          <a:lstStyle/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Spread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Normal Distribution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Tails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Tails on both sides </a:t>
            </a:r>
          </a:p>
        </p:txBody>
      </p:sp>
    </p:spTree>
    <p:extLst>
      <p:ext uri="{BB962C8B-B14F-4D97-AF65-F5344CB8AC3E}">
        <p14:creationId xmlns:p14="http://schemas.microsoft.com/office/powerpoint/2010/main" val="163667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Reading Histogram &amp; Descriptive Statistics</a:t>
            </a:r>
            <a:endParaRPr lang="en-US" sz="4000" dirty="0">
              <a:solidFill>
                <a:srgbClr val="FFFE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7B906-F120-2EA2-09F8-D42741555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8" y="1835553"/>
            <a:ext cx="6564834" cy="5022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6DFC5-7861-DCE9-82C4-241769C18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997" y="2003456"/>
            <a:ext cx="3948576" cy="2851087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CFAA153-FE0A-A9B0-AA8C-85FD56545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4652" y="5039472"/>
            <a:ext cx="5295780" cy="1818528"/>
          </a:xfrm>
        </p:spPr>
        <p:txBody>
          <a:bodyPr anchor="t">
            <a:normAutofit/>
          </a:bodyPr>
          <a:lstStyle/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Spread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Normal distribution (when ignoring potential outlier data)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Tails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Tails on both sides... Outlier peak of data to the left of the distribution </a:t>
            </a:r>
          </a:p>
        </p:txBody>
      </p:sp>
    </p:spTree>
    <p:extLst>
      <p:ext uri="{BB962C8B-B14F-4D97-AF65-F5344CB8AC3E}">
        <p14:creationId xmlns:p14="http://schemas.microsoft.com/office/powerpoint/2010/main" val="97451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Identifying Outliers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BAE896A-BDE0-21FE-2E4B-FCC4E5906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69" y="1941942"/>
            <a:ext cx="10972730" cy="4916058"/>
          </a:xfrm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How do we identify outliers?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Observing data points on the histogram that are far away from the other data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Taking a closer look at the outliers using a boxplot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Defining outliers mathematically with Interquartile Range (IQR)</a:t>
            </a:r>
          </a:p>
          <a:p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How do we handle outliers?</a:t>
            </a:r>
          </a:p>
          <a:p>
            <a:pPr lvl="1"/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Ask questions about why the outliers exist: </a:t>
            </a:r>
          </a:p>
          <a:p>
            <a:pPr lvl="2"/>
            <a:r>
              <a:rPr lang="en-US" sz="20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Are they valid and explainable? – Consider leaving them in the data set</a:t>
            </a:r>
          </a:p>
          <a:p>
            <a:pPr lvl="2"/>
            <a:r>
              <a:rPr lang="en-US" sz="20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Are they a result of an error in data collection? – Consider removing them from the data set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Reading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 and </a:t>
            </a:r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absences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 were immediately identified as having possible outliers based on their histograms. We will look at these two variables first...</a:t>
            </a:r>
          </a:p>
          <a:p>
            <a:endParaRPr lang="en-US" sz="2400" dirty="0">
              <a:solidFill>
                <a:srgbClr val="1D252C"/>
              </a:solidFill>
              <a:latin typeface="Hove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5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9"/>
    </mc:Choice>
    <mc:Fallback xmlns="">
      <p:transition spd="slow" advTm="6422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Identifying Outliers - Reading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BAE896A-BDE0-21FE-2E4B-FCC4E5906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18" y="1919082"/>
            <a:ext cx="8049861" cy="4645728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There are 13 identified Reading outlier values below the lower limit threshold. 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Questions to ask about these outliers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Why do these students have 0 grade in Reading, but not Math?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Is reading the first class of the day for these students and they are coming to school tardy?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Are these 0 grades an error in the                                                       grading system?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Was there a missing reading grade                                                             for these students, but instead of                                                           null, a 0 was entered in its place?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BEB37-E22D-69BB-5EE7-34EC5A784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982" y="768226"/>
            <a:ext cx="3361487" cy="4645729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5C95E8-D15E-C411-A538-9B3B571A2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588" y="4347100"/>
            <a:ext cx="3640163" cy="251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0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9"/>
    </mc:Choice>
    <mc:Fallback xmlns="">
      <p:transition spd="slow" advTm="6422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Identifying Outliers - Reading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BAE896A-BDE0-21FE-2E4B-FCC4E5906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98" y="1919082"/>
            <a:ext cx="11307478" cy="4938918"/>
          </a:xfrm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As a former teacher, </a:t>
            </a:r>
            <a:r>
              <a:rPr lang="en-US" sz="28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domain expertise</a:t>
            </a:r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 about this type of data and how student grades work will help me deal with these outliers.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 odds of a student receiving a 0 grade are very small in a classroom situation. Most students will do at least some work and earn a failing grade.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Earning a 0 grade comes from doing no work at all and/or never attending the class to begin with.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We can see that these students also have 0 absences, therefore we can conclude that these 0 grades must be an error.</a:t>
            </a:r>
          </a:p>
          <a:p>
            <a:r>
              <a:rPr lang="en-US" sz="28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Handling these outliers</a:t>
            </a:r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These errors in the data will skew the analysis of our statistical question, and therefore should be removed. </a:t>
            </a:r>
          </a:p>
        </p:txBody>
      </p:sp>
    </p:spTree>
    <p:extLst>
      <p:ext uri="{BB962C8B-B14F-4D97-AF65-F5344CB8AC3E}">
        <p14:creationId xmlns:p14="http://schemas.microsoft.com/office/powerpoint/2010/main" val="244420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9"/>
    </mc:Choice>
    <mc:Fallback xmlns="">
      <p:transition spd="slow" advTm="6422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Identifying Outliers - absences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BAE896A-BDE0-21FE-2E4B-FCC4E5906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18" y="1919082"/>
            <a:ext cx="8049861" cy="4645728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There are 15 identified absences outlier values below the lower limit threshold. </a:t>
            </a:r>
          </a:p>
          <a:p>
            <a:r>
              <a:rPr lang="en-US" sz="24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Questions to ask about these outliers</a:t>
            </a:r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There are 93 days recorded for this school year; Is it feasible that this many students could have as many as 50-75 absences during the school year?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Is it possible for the students with                                                                 a high number of absences to still                                                                    have passing Math &amp; Reading                                                              grades?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3157E-2FAA-574B-BDA0-4C4D51691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696" y="768226"/>
            <a:ext cx="2863773" cy="4472940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374EE0-C9BC-2A37-7EE9-C04288615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010" y="4126230"/>
            <a:ext cx="3942573" cy="269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7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9"/>
    </mc:Choice>
    <mc:Fallback xmlns="">
      <p:transition spd="slow" advTm="6422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Identifying Outliers - Reading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BAE896A-BDE0-21FE-2E4B-FCC4E5906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98" y="1919082"/>
            <a:ext cx="11307477" cy="4938918"/>
          </a:xfrm>
        </p:spPr>
        <p:txBody>
          <a:bodyPr anchor="t">
            <a:normAutofit lnSpcReduction="10000"/>
          </a:bodyPr>
          <a:lstStyle/>
          <a:p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As a former teacher, </a:t>
            </a:r>
            <a:r>
              <a:rPr lang="en-US" sz="28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domain expertise</a:t>
            </a:r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 about this type of data and how student absences work will help me deal with these outliers.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 upper limit threshold for this data is 20 days; a feasible number of days for student absences.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I had multiple students absent more than 10 days a quarter, which equals more than 40 days a year.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Many of these students failed their classes due to missing work, however several students were able to maintain passing grades in their classes by keeping up with their classwork.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Therefore, students having such high absences and maintaining C and D grades, is feasible.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 </a:t>
            </a:r>
            <a:r>
              <a:rPr lang="en-US" sz="2800" u="sng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Handling these outliers</a:t>
            </a:r>
            <a:r>
              <a:rPr lang="en-US" sz="28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:  </a:t>
            </a:r>
          </a:p>
          <a:p>
            <a:pPr lvl="1"/>
            <a:r>
              <a:rPr lang="en-US" sz="2200" dirty="0">
                <a:solidFill>
                  <a:srgbClr val="1D252C"/>
                </a:solidFill>
                <a:latin typeface="Hoves"/>
                <a:cs typeface="Times New Roman" panose="02020603050405020304" pitchFamily="18" charset="0"/>
              </a:rPr>
              <a:t>Since these outliers are not viewed to be errors, then they can be left in the data set and used for the analysis of our statistical question. </a:t>
            </a:r>
          </a:p>
        </p:txBody>
      </p:sp>
    </p:spTree>
    <p:extLst>
      <p:ext uri="{BB962C8B-B14F-4D97-AF65-F5344CB8AC3E}">
        <p14:creationId xmlns:p14="http://schemas.microsoft.com/office/powerpoint/2010/main" val="303143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9"/>
    </mc:Choice>
    <mc:Fallback xmlns="">
      <p:transition spd="slow" advTm="6422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14A27B-29E3-FA1F-F3C7-949C554A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790A-08BF-B3F4-6576-BDEC9CB27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845754"/>
          </a:xfrm>
        </p:spPr>
        <p:txBody>
          <a:bodyPr>
            <a:normAutofit/>
          </a:bodyPr>
          <a:lstStyle/>
          <a:p>
            <a:r>
              <a:rPr lang="en-US" sz="4000" cap="none" dirty="0"/>
              <a:t>Project Control Techniques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F35-A928-2195-4832-7EC35668F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52" y="2058263"/>
            <a:ext cx="5087075" cy="536005"/>
          </a:xfrm>
        </p:spPr>
        <p:txBody>
          <a:bodyPr/>
          <a:lstStyle/>
          <a:p>
            <a:r>
              <a:rPr lang="en-US" sz="2800" dirty="0"/>
              <a:t>Standard Operating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0F2FE-4CA3-6000-C5B0-6378631F0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314" y="2718875"/>
            <a:ext cx="8879273" cy="884233"/>
          </a:xfrm>
        </p:spPr>
        <p:txBody>
          <a:bodyPr>
            <a:normAutofit/>
          </a:bodyPr>
          <a:lstStyle/>
          <a:p>
            <a:r>
              <a:rPr lang="en-US" sz="2400" dirty="0"/>
              <a:t>Establish how and when the team will report their work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694E4-8053-BE20-9701-EFB865FA2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554" y="4938483"/>
            <a:ext cx="5087073" cy="553373"/>
          </a:xfrm>
        </p:spPr>
        <p:txBody>
          <a:bodyPr/>
          <a:lstStyle/>
          <a:p>
            <a:r>
              <a:rPr lang="en-US" sz="2800" dirty="0"/>
              <a:t>Integrated Change Control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FC585D-D6A8-CC69-0DBD-1BFB35C96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4" y="5529212"/>
            <a:ext cx="11419026" cy="2053385"/>
          </a:xfrm>
        </p:spPr>
        <p:txBody>
          <a:bodyPr>
            <a:normAutofit/>
          </a:bodyPr>
          <a:lstStyle/>
          <a:p>
            <a:r>
              <a:rPr lang="en-US" sz="2400" dirty="0"/>
              <a:t>Formal process for the submission, documentation, and evaluation of change requests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CC4DA29-F661-4A27-95F6-0E0F396F7244}"/>
              </a:ext>
            </a:extLst>
          </p:cNvPr>
          <p:cNvSpPr txBox="1">
            <a:spLocks/>
          </p:cNvSpPr>
          <p:nvPr/>
        </p:nvSpPr>
        <p:spPr>
          <a:xfrm>
            <a:off x="610552" y="353801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Monitor &amp; Control Project Work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9FF436E-9EFA-5962-BDEE-64AF0C615615}"/>
              </a:ext>
            </a:extLst>
          </p:cNvPr>
          <p:cNvSpPr txBox="1">
            <a:spLocks/>
          </p:cNvSpPr>
          <p:nvPr/>
        </p:nvSpPr>
        <p:spPr>
          <a:xfrm>
            <a:off x="445314" y="4129647"/>
            <a:ext cx="10504626" cy="734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Utilize techniques to monitor and control project processes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3FD57-5236-C0D8-6444-0DF2BA6557E8}"/>
              </a:ext>
            </a:extLst>
          </p:cNvPr>
          <p:cNvSpPr txBox="1"/>
          <p:nvPr/>
        </p:nvSpPr>
        <p:spPr>
          <a:xfrm>
            <a:off x="8403835" y="6340661"/>
            <a:ext cx="35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Schneider, et. al., 2020, p.</a:t>
            </a:r>
            <a:r>
              <a:rPr lang="da-DK" dirty="0">
                <a:solidFill>
                  <a:srgbClr val="1D252C"/>
                </a:solidFill>
                <a:cs typeface="Times New Roman" panose="02020603050405020304" pitchFamily="18" charset="0"/>
              </a:rPr>
              <a:t>424-430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371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34"/>
    </mc:Choice>
    <mc:Fallback xmlns="">
      <p:transition spd="slow" advTm="2203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A0AF74-1139-72D4-392A-4CE26E23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0222-26E8-0A8F-5BCB-3A6ABB58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845754"/>
          </a:xfrm>
        </p:spPr>
        <p:txBody>
          <a:bodyPr>
            <a:normAutofit/>
          </a:bodyPr>
          <a:lstStyle/>
          <a:p>
            <a:r>
              <a:rPr lang="en-US" sz="4000" cap="none" dirty="0"/>
              <a:t>Project Control Techniques Cont.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15CB1-5B94-B929-E9D4-AC6BCE89A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52" y="2058263"/>
            <a:ext cx="5087075" cy="536005"/>
          </a:xfrm>
        </p:spPr>
        <p:txBody>
          <a:bodyPr/>
          <a:lstStyle/>
          <a:p>
            <a:r>
              <a:rPr lang="en-US" sz="2800" dirty="0"/>
              <a:t>Validate Scope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7AF6E-E3B5-6E5B-BD6A-6F5AB2570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314" y="2718875"/>
            <a:ext cx="11557364" cy="884233"/>
          </a:xfrm>
        </p:spPr>
        <p:txBody>
          <a:bodyPr>
            <a:normAutofit/>
          </a:bodyPr>
          <a:lstStyle/>
          <a:p>
            <a:r>
              <a:rPr lang="en-US" sz="2400" dirty="0"/>
              <a:t>Assessment of produced deliverables based on stakeholder’s formal acceptance at sign-off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0DFA2-94B4-7F28-23A7-BAB368452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554" y="4938483"/>
            <a:ext cx="5087073" cy="553373"/>
          </a:xfrm>
        </p:spPr>
        <p:txBody>
          <a:bodyPr/>
          <a:lstStyle/>
          <a:p>
            <a:r>
              <a:rPr lang="en-US" sz="2800" dirty="0"/>
              <a:t>Control Schedule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21353-0C93-2AF5-66E5-E481EE66E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6487" y="5491856"/>
            <a:ext cx="11419026" cy="2053385"/>
          </a:xfrm>
        </p:spPr>
        <p:txBody>
          <a:bodyPr>
            <a:normAutofit/>
          </a:bodyPr>
          <a:lstStyle/>
          <a:p>
            <a:r>
              <a:rPr lang="en-US" sz="2400" dirty="0"/>
              <a:t>Is the project progressing according to the project schedule?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CA519A9-6CBF-B010-EBA0-AE8FA31601E8}"/>
              </a:ext>
            </a:extLst>
          </p:cNvPr>
          <p:cNvSpPr txBox="1">
            <a:spLocks/>
          </p:cNvSpPr>
          <p:nvPr/>
        </p:nvSpPr>
        <p:spPr>
          <a:xfrm>
            <a:off x="610552" y="353801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Control Scope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E0DDA55-0363-7129-CB3F-E2E920121395}"/>
              </a:ext>
            </a:extLst>
          </p:cNvPr>
          <p:cNvSpPr txBox="1">
            <a:spLocks/>
          </p:cNvSpPr>
          <p:nvPr/>
        </p:nvSpPr>
        <p:spPr>
          <a:xfrm>
            <a:off x="445314" y="4129647"/>
            <a:ext cx="10504626" cy="734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Protecting the project scope by only making agreed-upon 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C596E-0978-1126-AD01-B7AC786B25DB}"/>
              </a:ext>
            </a:extLst>
          </p:cNvPr>
          <p:cNvSpPr txBox="1"/>
          <p:nvPr/>
        </p:nvSpPr>
        <p:spPr>
          <a:xfrm>
            <a:off x="8403835" y="6340661"/>
            <a:ext cx="35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Schneider, et. al., 2020, p.</a:t>
            </a:r>
            <a:r>
              <a:rPr lang="da-DK" dirty="0">
                <a:solidFill>
                  <a:srgbClr val="1D252C"/>
                </a:solidFill>
                <a:cs typeface="Times New Roman" panose="02020603050405020304" pitchFamily="18" charset="0"/>
              </a:rPr>
              <a:t>433-436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855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34"/>
    </mc:Choice>
    <mc:Fallback xmlns="">
      <p:transition spd="slow" advTm="2203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7BACB7-25A0-AA5E-62C1-935982A7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606D-53A6-0882-BC72-33906594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845754"/>
          </a:xfrm>
        </p:spPr>
        <p:txBody>
          <a:bodyPr>
            <a:normAutofit/>
          </a:bodyPr>
          <a:lstStyle/>
          <a:p>
            <a:r>
              <a:rPr lang="en-US" sz="4000" cap="none" dirty="0"/>
              <a:t>Project Control Techniques Cont.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BF5CF-5B39-5067-18CB-223EE2377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52" y="2058263"/>
            <a:ext cx="5087075" cy="536005"/>
          </a:xfrm>
        </p:spPr>
        <p:txBody>
          <a:bodyPr/>
          <a:lstStyle/>
          <a:p>
            <a:r>
              <a:rPr lang="en-US" sz="2800" dirty="0"/>
              <a:t>Control Quality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78552-3E6F-550C-5F1D-6E1B1ED74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314" y="2718875"/>
            <a:ext cx="11557364" cy="884233"/>
          </a:xfrm>
        </p:spPr>
        <p:txBody>
          <a:bodyPr>
            <a:normAutofit/>
          </a:bodyPr>
          <a:lstStyle/>
          <a:p>
            <a:r>
              <a:rPr lang="en-US" sz="2400" dirty="0"/>
              <a:t>Assessing whether project deliverables meet established quality standards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4905C-3AA1-8B2A-ADDA-89B8ABC2B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554" y="4938483"/>
            <a:ext cx="5087073" cy="553373"/>
          </a:xfrm>
        </p:spPr>
        <p:txBody>
          <a:bodyPr/>
          <a:lstStyle/>
          <a:p>
            <a:r>
              <a:rPr lang="en-US" sz="2800" dirty="0"/>
              <a:t>Monitor Risks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2DF19-2FA5-BC18-579E-F79E83F9B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6487" y="5491856"/>
            <a:ext cx="11419026" cy="2053385"/>
          </a:xfrm>
        </p:spPr>
        <p:txBody>
          <a:bodyPr>
            <a:normAutofit/>
          </a:bodyPr>
          <a:lstStyle/>
          <a:p>
            <a:r>
              <a:rPr lang="en-US" sz="2400" dirty="0"/>
              <a:t>Monitoring identified risks, detecting new risks, and responding to risks as they occur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AEDCA05-F844-2DD6-44D2-AF861CAF9F50}"/>
              </a:ext>
            </a:extLst>
          </p:cNvPr>
          <p:cNvSpPr txBox="1">
            <a:spLocks/>
          </p:cNvSpPr>
          <p:nvPr/>
        </p:nvSpPr>
        <p:spPr>
          <a:xfrm>
            <a:off x="610552" y="353801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Control Resources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58D2FE4-9B5A-FBD1-0599-01197BC81C7D}"/>
              </a:ext>
            </a:extLst>
          </p:cNvPr>
          <p:cNvSpPr txBox="1">
            <a:spLocks/>
          </p:cNvSpPr>
          <p:nvPr/>
        </p:nvSpPr>
        <p:spPr>
          <a:xfrm>
            <a:off x="445314" y="4129647"/>
            <a:ext cx="10504626" cy="734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Ensuring the availability of resources and controlling their utilization and release </a:t>
            </a:r>
            <a:r>
              <a:rPr lang="en-US" sz="18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(Bridges, J., 2015)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6B3A5-247C-0743-A3A2-F36E88E6748E}"/>
              </a:ext>
            </a:extLst>
          </p:cNvPr>
          <p:cNvSpPr txBox="1"/>
          <p:nvPr/>
        </p:nvSpPr>
        <p:spPr>
          <a:xfrm>
            <a:off x="8403835" y="6340661"/>
            <a:ext cx="35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Schneider, et. al., 2020, p.</a:t>
            </a:r>
            <a:r>
              <a:rPr lang="da-DK" dirty="0">
                <a:solidFill>
                  <a:srgbClr val="1D252C"/>
                </a:solidFill>
                <a:cs typeface="Times New Roman" panose="02020603050405020304" pitchFamily="18" charset="0"/>
              </a:rPr>
              <a:t>446-456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941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34"/>
    </mc:Choice>
    <mc:Fallback xmlns="">
      <p:transition spd="slow" advTm="2203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8E62DC-D07A-CA34-B8A8-93CC093C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B2D0-65E6-66AF-6CBF-551053A6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845754"/>
          </a:xfrm>
        </p:spPr>
        <p:txBody>
          <a:bodyPr>
            <a:normAutofit/>
          </a:bodyPr>
          <a:lstStyle/>
          <a:p>
            <a:r>
              <a:rPr lang="en-US" sz="4000" cap="none" dirty="0"/>
              <a:t>Project Control Techniques Cont.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5377-D082-D70A-4399-5DD5A32B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52" y="2058263"/>
            <a:ext cx="5087075" cy="536005"/>
          </a:xfrm>
        </p:spPr>
        <p:txBody>
          <a:bodyPr/>
          <a:lstStyle/>
          <a:p>
            <a:r>
              <a:rPr lang="en-US" sz="2800" dirty="0"/>
              <a:t>Control Procurements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6BBDA-C873-0852-2567-6C7EA702A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314" y="5768524"/>
            <a:ext cx="11557364" cy="884233"/>
          </a:xfrm>
        </p:spPr>
        <p:txBody>
          <a:bodyPr>
            <a:normAutofit/>
          </a:bodyPr>
          <a:lstStyle/>
          <a:p>
            <a:r>
              <a:rPr lang="en-US" sz="2400" dirty="0"/>
              <a:t>Handling changes to the cost baseline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67C470-52EF-B5AA-33E5-2A972DB92294}"/>
              </a:ext>
            </a:extLst>
          </p:cNvPr>
          <p:cNvSpPr txBox="1">
            <a:spLocks/>
          </p:cNvSpPr>
          <p:nvPr/>
        </p:nvSpPr>
        <p:spPr>
          <a:xfrm>
            <a:off x="610552" y="3440302"/>
            <a:ext cx="8419148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Monitor Communication &amp; Stakeholder Engagement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2C94C05-2B87-6199-AE6A-EB8B71294DA5}"/>
              </a:ext>
            </a:extLst>
          </p:cNvPr>
          <p:cNvSpPr txBox="1">
            <a:spLocks/>
          </p:cNvSpPr>
          <p:nvPr/>
        </p:nvSpPr>
        <p:spPr>
          <a:xfrm>
            <a:off x="445314" y="4072068"/>
            <a:ext cx="10504626" cy="734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Current information reaches the appropriate audience for the desired effectiveness of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264D6-FEF4-D468-352D-257A0C871B09}"/>
              </a:ext>
            </a:extLst>
          </p:cNvPr>
          <p:cNvSpPr txBox="1"/>
          <p:nvPr/>
        </p:nvSpPr>
        <p:spPr>
          <a:xfrm>
            <a:off x="8195311" y="6340661"/>
            <a:ext cx="380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Schneider, et. al., 2020, p.438, </a:t>
            </a:r>
            <a:r>
              <a:rPr lang="da-DK" dirty="0">
                <a:solidFill>
                  <a:srgbClr val="1D252C"/>
                </a:solidFill>
                <a:cs typeface="Times New Roman" panose="02020603050405020304" pitchFamily="18" charset="0"/>
              </a:rPr>
              <a:t>457-458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431C288-4104-B147-C07A-99B07AC9FE96}"/>
              </a:ext>
            </a:extLst>
          </p:cNvPr>
          <p:cNvSpPr txBox="1">
            <a:spLocks/>
          </p:cNvSpPr>
          <p:nvPr/>
        </p:nvSpPr>
        <p:spPr>
          <a:xfrm>
            <a:off x="581193" y="5174796"/>
            <a:ext cx="8419148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Control Costs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7931CB2-6BCC-EA1C-73A7-62B7E8D96D26}"/>
              </a:ext>
            </a:extLst>
          </p:cNvPr>
          <p:cNvSpPr txBox="1">
            <a:spLocks/>
          </p:cNvSpPr>
          <p:nvPr/>
        </p:nvSpPr>
        <p:spPr>
          <a:xfrm>
            <a:off x="445314" y="2701045"/>
            <a:ext cx="11557364" cy="8842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Are the vendors meeting their contracted performance standards?</a:t>
            </a:r>
          </a:p>
        </p:txBody>
      </p:sp>
    </p:spTree>
    <p:extLst>
      <p:ext uri="{BB962C8B-B14F-4D97-AF65-F5344CB8AC3E}">
        <p14:creationId xmlns:p14="http://schemas.microsoft.com/office/powerpoint/2010/main" val="373427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34"/>
    </mc:Choice>
    <mc:Fallback xmlns="">
      <p:transition spd="slow" advTm="2203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Control Costs</a:t>
            </a:r>
            <a:endParaRPr lang="en-US" sz="4000" cap="none" dirty="0">
              <a:solidFill>
                <a:srgbClr val="FFFEFF"/>
              </a:solidFill>
            </a:endParaRPr>
          </a:p>
        </p:txBody>
      </p:sp>
      <p:pic>
        <p:nvPicPr>
          <p:cNvPr id="3" name="Picture Placeholder 24" descr="Digital Graph Screen">
            <a:extLst>
              <a:ext uri="{FF2B5EF4-FFF2-40B4-BE49-F238E27FC236}">
                <a16:creationId xmlns:a16="http://schemas.microsoft.com/office/drawing/2014/main" id="{FDF70FE0-0B47-ED49-1EC8-B17AD63E0C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421291" y="2014002"/>
            <a:ext cx="3667689" cy="4535196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D768F0D-3F9B-C284-8FF0-64154B2AA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624" y="2286122"/>
            <a:ext cx="7525539" cy="1578447"/>
          </a:xfrm>
        </p:spPr>
        <p:txBody>
          <a:bodyPr anchor="t">
            <a:normAutofit fontScale="85000" lnSpcReduction="20000"/>
          </a:bodyPr>
          <a:lstStyle/>
          <a:p>
            <a:endParaRPr lang="en-US" sz="2400" dirty="0"/>
          </a:p>
          <a:p>
            <a:r>
              <a:rPr lang="en-US" sz="2800" dirty="0">
                <a:solidFill>
                  <a:srgbClr val="1D252C"/>
                </a:solidFill>
                <a:latin typeface="Hoves"/>
              </a:rPr>
              <a:t>Measures performance over time</a:t>
            </a:r>
          </a:p>
          <a:p>
            <a:r>
              <a:rPr lang="en-US" sz="2800" dirty="0">
                <a:solidFill>
                  <a:srgbClr val="1D252C"/>
                </a:solidFill>
                <a:latin typeface="Hoves"/>
              </a:rPr>
              <a:t>Estimate: Likelihood of meeting the projected schedule &amp; budget</a:t>
            </a:r>
            <a:endParaRPr lang="en-US" sz="2400" dirty="0">
              <a:solidFill>
                <a:srgbClr val="1D252C"/>
              </a:solidFill>
              <a:latin typeface="Hove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6450552-7857-381E-35CF-652A70E71FB2}"/>
              </a:ext>
            </a:extLst>
          </p:cNvPr>
          <p:cNvSpPr txBox="1">
            <a:spLocks/>
          </p:cNvSpPr>
          <p:nvPr/>
        </p:nvSpPr>
        <p:spPr>
          <a:xfrm>
            <a:off x="4407756" y="1977363"/>
            <a:ext cx="6931282" cy="5360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>
                <a:solidFill>
                  <a:schemeClr val="accent2"/>
                </a:solidFill>
              </a:rPr>
              <a:t>Earned Value Analysis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515285B-36DB-3F7F-C914-AA062C063167}"/>
              </a:ext>
            </a:extLst>
          </p:cNvPr>
          <p:cNvSpPr txBox="1">
            <a:spLocks/>
          </p:cNvSpPr>
          <p:nvPr/>
        </p:nvSpPr>
        <p:spPr>
          <a:xfrm>
            <a:off x="4407756" y="4013597"/>
            <a:ext cx="6931282" cy="5360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>
                <a:solidFill>
                  <a:schemeClr val="accent2"/>
                </a:solidFill>
              </a:rPr>
              <a:t>Key Values – Calculating Activity Costs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DF016A-2273-B159-2FD2-BFE2508E4940}"/>
              </a:ext>
            </a:extLst>
          </p:cNvPr>
          <p:cNvSpPr txBox="1">
            <a:spLocks/>
          </p:cNvSpPr>
          <p:nvPr/>
        </p:nvSpPr>
        <p:spPr>
          <a:xfrm>
            <a:off x="4510625" y="4107976"/>
            <a:ext cx="7525539" cy="2434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Planned Value (PV)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Earned Value (EV)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Actual Cost (AC)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B6EFD-FB51-4878-C0AB-96BD44E209BD}"/>
              </a:ext>
            </a:extLst>
          </p:cNvPr>
          <p:cNvSpPr txBox="1"/>
          <p:nvPr/>
        </p:nvSpPr>
        <p:spPr>
          <a:xfrm>
            <a:off x="8650441" y="6267616"/>
            <a:ext cx="380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Schneider, et. al., 2020, p.439-441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0194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8A4171-CE4C-5CDD-23B1-B27A74F5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C037-659F-2CD1-209B-C8826041B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Control Costs Cont.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5334B0-5467-ABFC-E27F-737D84727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755" y="2133477"/>
            <a:ext cx="7525539" cy="1629069"/>
          </a:xfrm>
        </p:spPr>
        <p:txBody>
          <a:bodyPr anchor="t">
            <a:normAutofit lnSpcReduction="10000"/>
          </a:bodyPr>
          <a:lstStyle/>
          <a:p>
            <a:endParaRPr lang="en-US" sz="2400" dirty="0"/>
          </a:p>
          <a:p>
            <a:r>
              <a:rPr lang="en-US" sz="2800" dirty="0">
                <a:solidFill>
                  <a:srgbClr val="1D252C"/>
                </a:solidFill>
                <a:latin typeface="Hoves"/>
              </a:rPr>
              <a:t>Cost Variance (CV) </a:t>
            </a:r>
          </a:p>
          <a:p>
            <a:r>
              <a:rPr lang="en-US" sz="2800" dirty="0">
                <a:solidFill>
                  <a:srgbClr val="1D252C"/>
                </a:solidFill>
                <a:latin typeface="Hoves"/>
              </a:rPr>
              <a:t>Cost Performance Index (CPI) </a:t>
            </a:r>
          </a:p>
        </p:txBody>
      </p:sp>
      <p:pic>
        <p:nvPicPr>
          <p:cNvPr id="7" name="Picture 6" descr="Digital Numbers">
            <a:extLst>
              <a:ext uri="{FF2B5EF4-FFF2-40B4-BE49-F238E27FC236}">
                <a16:creationId xmlns:a16="http://schemas.microsoft.com/office/drawing/2014/main" id="{4FFAAA57-089F-66F6-D034-9387E7F4BB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3326" y="2100470"/>
            <a:ext cx="3667690" cy="450553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148FA9-36EE-3475-5AFF-456D94113CED}"/>
              </a:ext>
            </a:extLst>
          </p:cNvPr>
          <p:cNvSpPr txBox="1">
            <a:spLocks/>
          </p:cNvSpPr>
          <p:nvPr/>
        </p:nvSpPr>
        <p:spPr>
          <a:xfrm>
            <a:off x="4407756" y="1920162"/>
            <a:ext cx="6931282" cy="5360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>
                <a:solidFill>
                  <a:schemeClr val="accent2"/>
                </a:solidFill>
              </a:rPr>
              <a:t>Cost Control Indexes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6648C-7959-39EC-6DB4-ECB8038274F4}"/>
              </a:ext>
            </a:extLst>
          </p:cNvPr>
          <p:cNvSpPr txBox="1">
            <a:spLocks/>
          </p:cNvSpPr>
          <p:nvPr/>
        </p:nvSpPr>
        <p:spPr>
          <a:xfrm>
            <a:off x="4407756" y="4085236"/>
            <a:ext cx="6931282" cy="5360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>
                <a:solidFill>
                  <a:schemeClr val="accent2"/>
                </a:solidFill>
              </a:rPr>
              <a:t>Schedule Control Indexes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625D79F-419C-C898-A950-C90730FF806C}"/>
              </a:ext>
            </a:extLst>
          </p:cNvPr>
          <p:cNvSpPr txBox="1">
            <a:spLocks/>
          </p:cNvSpPr>
          <p:nvPr/>
        </p:nvSpPr>
        <p:spPr>
          <a:xfrm>
            <a:off x="4407755" y="4305905"/>
            <a:ext cx="7525539" cy="18673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en-US" sz="2800" dirty="0">
                <a:solidFill>
                  <a:srgbClr val="1D252C"/>
                </a:solidFill>
                <a:latin typeface="Hoves"/>
              </a:rPr>
              <a:t>Schedule Variance (SV)</a:t>
            </a:r>
          </a:p>
          <a:p>
            <a:r>
              <a:rPr lang="en-US" sz="2800" dirty="0">
                <a:solidFill>
                  <a:srgbClr val="1D252C"/>
                </a:solidFill>
                <a:latin typeface="Hoves"/>
              </a:rPr>
              <a:t>Schedule Performance Index (SPI</a:t>
            </a:r>
            <a:r>
              <a:rPr lang="en-US" sz="2400" dirty="0">
                <a:solidFill>
                  <a:srgbClr val="1D252C"/>
                </a:solidFill>
                <a:latin typeface="Hoves"/>
              </a:rPr>
              <a:t>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B947C-06B1-A390-A9D8-A006C4FEDB21}"/>
              </a:ext>
            </a:extLst>
          </p:cNvPr>
          <p:cNvSpPr txBox="1"/>
          <p:nvPr/>
        </p:nvSpPr>
        <p:spPr>
          <a:xfrm>
            <a:off x="9039061" y="6291151"/>
            <a:ext cx="380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Schneider, et. al., 2020, p.442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502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70"/>
    </mc:Choice>
    <mc:Fallback xmlns="">
      <p:transition spd="slow" advTm="10997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75184"/>
          </a:xfrm>
        </p:spPr>
        <p:txBody>
          <a:bodyPr>
            <a:normAutofit/>
          </a:bodyPr>
          <a:lstStyle/>
          <a:p>
            <a:r>
              <a:rPr lang="en-US" sz="4000" cap="none" dirty="0"/>
              <a:t>Project Closure</a:t>
            </a:r>
            <a:endParaRPr lang="en-US" sz="4000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12261B-88CB-4952-A422-D9FB3CD98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20240"/>
            <a:ext cx="5882640" cy="4594860"/>
          </a:xfrm>
        </p:spPr>
        <p:txBody>
          <a:bodyPr>
            <a:normAutofit fontScale="92500"/>
          </a:bodyPr>
          <a:lstStyle/>
          <a:p>
            <a:r>
              <a:rPr lang="en-US" sz="2600" dirty="0">
                <a:latin typeface="Hoves"/>
                <a:cs typeface="Times New Roman" panose="02020603050405020304" pitchFamily="18" charset="0"/>
              </a:rPr>
              <a:t>Every project has a start and an end, whether the project is deemed successful or not </a:t>
            </a:r>
          </a:p>
          <a:p>
            <a:pPr>
              <a:spcAft>
                <a:spcPts val="200"/>
              </a:spcAft>
            </a:pPr>
            <a:r>
              <a:rPr lang="en-US" sz="2600" dirty="0">
                <a:latin typeface="Hoves"/>
                <a:cs typeface="Times New Roman" panose="02020603050405020304" pitchFamily="18" charset="0"/>
              </a:rPr>
              <a:t>Closing a project:</a:t>
            </a:r>
          </a:p>
          <a:p>
            <a:pPr lvl="1"/>
            <a:r>
              <a:rPr lang="en-US" sz="2400" dirty="0">
                <a:latin typeface="Hoves"/>
                <a:cs typeface="Times New Roman" panose="02020603050405020304" pitchFamily="18" charset="0"/>
              </a:rPr>
              <a:t>Final implementation &amp; training, acceptance &amp; signoff, and archiving documentation &amp; lessons learned</a:t>
            </a:r>
          </a:p>
          <a:p>
            <a:pPr>
              <a:spcAft>
                <a:spcPts val="200"/>
              </a:spcAft>
            </a:pPr>
            <a:r>
              <a:rPr lang="en-US" sz="2600" dirty="0">
                <a:latin typeface="Hoves"/>
                <a:cs typeface="Times New Roman" panose="02020603050405020304" pitchFamily="18" charset="0"/>
              </a:rPr>
              <a:t>Importance: </a:t>
            </a:r>
          </a:p>
          <a:p>
            <a:pPr lvl="1"/>
            <a:r>
              <a:rPr lang="en-US" sz="2400" dirty="0">
                <a:latin typeface="Hoves"/>
                <a:cs typeface="Times New Roman" panose="02020603050405020304" pitchFamily="18" charset="0"/>
              </a:rPr>
              <a:t>Gives the team assurance of the final signoff from the customer &amp; an archive of lessons learned to reference in the future</a:t>
            </a:r>
            <a:endParaRPr lang="en-US" sz="2200" dirty="0">
              <a:latin typeface="Hoves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16E54-4048-9BE4-0694-9328817B2A4F}"/>
              </a:ext>
            </a:extLst>
          </p:cNvPr>
          <p:cNvSpPr txBox="1"/>
          <p:nvPr/>
        </p:nvSpPr>
        <p:spPr>
          <a:xfrm>
            <a:off x="10029254" y="6430692"/>
            <a:ext cx="35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lang="en-US" sz="1800" dirty="0">
                <a:latin typeface="Hoves"/>
                <a:cs typeface="Times New Roman" panose="02020603050405020304" pitchFamily="18" charset="0"/>
              </a:rPr>
              <a:t>Bridges, J., 2015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252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76ECA4-9568-5461-BBD5-1AC72F10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91" y="2452109"/>
            <a:ext cx="4760122" cy="3502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F937E0-6E32-86F0-7F69-87F81CAD6EE9}"/>
              </a:ext>
            </a:extLst>
          </p:cNvPr>
          <p:cNvSpPr txBox="1"/>
          <p:nvPr/>
        </p:nvSpPr>
        <p:spPr>
          <a:xfrm>
            <a:off x="4391647" y="5951872"/>
            <a:ext cx="1508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Kachigan</a:t>
            </a:r>
            <a:r>
              <a:rPr lang="en-US" sz="1200" dirty="0">
                <a:effectLst/>
              </a:rPr>
              <a:t>, </a:t>
            </a:r>
            <a:r>
              <a:rPr lang="en-US" sz="1200" dirty="0"/>
              <a:t>M</a:t>
            </a:r>
            <a:r>
              <a:rPr lang="en-US" sz="1200" dirty="0">
                <a:effectLst/>
              </a:rPr>
              <a:t>., 2022</a:t>
            </a:r>
            <a:r>
              <a:rPr lang="en-US" sz="1200" dirty="0"/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77821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2"/>
    </mc:Choice>
    <mc:Fallback xmlns="">
      <p:transition spd="slow" advTm="640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830274"/>
            <a:ext cx="11029616" cy="718870"/>
          </a:xfrm>
        </p:spPr>
        <p:txBody>
          <a:bodyPr>
            <a:normAutofit/>
          </a:bodyPr>
          <a:lstStyle/>
          <a:p>
            <a:r>
              <a:rPr lang="en-US" sz="4000" cap="none" dirty="0"/>
              <a:t>Project Handover</a:t>
            </a:r>
            <a:endParaRPr lang="en-US" sz="4000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12261B-88CB-4952-A422-D9FB3CD98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756" y="3133606"/>
            <a:ext cx="7525539" cy="3232913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Finalizing project documentation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Obtaining approvals &amp; signatures to close the contract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Transfer of responsibilities and deliverables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Customer training</a:t>
            </a:r>
          </a:p>
          <a:p>
            <a:r>
              <a:rPr lang="en-US" sz="2400" dirty="0">
                <a:solidFill>
                  <a:srgbClr val="1D252C"/>
                </a:solidFill>
                <a:latin typeface="Hoves"/>
              </a:rPr>
              <a:t>Debrief project team members</a:t>
            </a:r>
          </a:p>
          <a:p>
            <a:endParaRPr lang="en-US" sz="2200" dirty="0">
              <a:solidFill>
                <a:srgbClr val="1D252C"/>
              </a:solidFill>
              <a:latin typeface="Hove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F07A09-E3B0-A73C-C1D2-5EE3CC2E1730}"/>
              </a:ext>
            </a:extLst>
          </p:cNvPr>
          <p:cNvSpPr txBox="1">
            <a:spLocks/>
          </p:cNvSpPr>
          <p:nvPr/>
        </p:nvSpPr>
        <p:spPr>
          <a:xfrm>
            <a:off x="4407756" y="2093398"/>
            <a:ext cx="6576474" cy="1040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accent2"/>
                </a:solidFill>
              </a:rPr>
              <a:t>Steps to handover the finalized project to the customer:</a:t>
            </a:r>
          </a:p>
        </p:txBody>
      </p:sp>
      <p:pic>
        <p:nvPicPr>
          <p:cNvPr id="7" name="Picture Placeholder 26" descr="Data Points Digital background">
            <a:extLst>
              <a:ext uri="{FF2B5EF4-FFF2-40B4-BE49-F238E27FC236}">
                <a16:creationId xmlns:a16="http://schemas.microsoft.com/office/drawing/2014/main" id="{3DC7BE65-BA27-6604-FCE0-B4E1A7695E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41134" y="2420368"/>
            <a:ext cx="4554437" cy="3730055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70542-8588-1F15-646F-96BB59C40CA4}"/>
              </a:ext>
            </a:extLst>
          </p:cNvPr>
          <p:cNvSpPr txBox="1"/>
          <p:nvPr/>
        </p:nvSpPr>
        <p:spPr>
          <a:xfrm>
            <a:off x="9842014" y="6181853"/>
            <a:ext cx="35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</a:rPr>
              <a:t>(Donato, H., 2024)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D252C"/>
              </a:solidFill>
              <a:effectLst/>
              <a:highlight>
                <a:srgbClr val="FFFF00"/>
              </a:highlight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52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9"/>
    </mc:Choice>
    <mc:Fallback xmlns="">
      <p:transition spd="slow" advTm="6422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58562"/>
            <a:ext cx="11029616" cy="1013800"/>
          </a:xfrm>
        </p:spPr>
        <p:txBody>
          <a:bodyPr>
            <a:normAutofit/>
          </a:bodyPr>
          <a:lstStyle/>
          <a:p>
            <a:r>
              <a:rPr lang="en-US" sz="4000" cap="none" dirty="0"/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657225" y="2789969"/>
            <a:ext cx="4962525" cy="27913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99109-8DF2-4F3C-BBCA-69AFB8F8C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1863" y="2038120"/>
            <a:ext cx="5869404" cy="4741937"/>
          </a:xfrm>
        </p:spPr>
        <p:txBody>
          <a:bodyPr>
            <a:normAutofit/>
          </a:bodyPr>
          <a:lstStyle/>
          <a:p>
            <a:r>
              <a:rPr lang="en-US" sz="2800" dirty="0"/>
              <a:t>Hands-on project control: </a:t>
            </a:r>
          </a:p>
          <a:p>
            <a:pPr lvl="1"/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By being aware of the progress of project tasks, identifying and solving problems, and making appropriate changes to the project plan, a project manager can utilize a hands-on approach to managing the progress of a project. </a:t>
            </a:r>
          </a:p>
          <a:p>
            <a:r>
              <a:rPr lang="en-US" sz="2800" dirty="0"/>
              <a:t>Project wrap-up and closure: </a:t>
            </a:r>
          </a:p>
          <a:p>
            <a:pPr lvl="1"/>
            <a:r>
              <a:rPr lang="en-US" sz="2000" dirty="0"/>
              <a:t>A sometimes-neglected step, project wrap-up and closure is essential to a successful handover to the customer and archival of project documentation for use on future projects. 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23531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9D01BD4-D715-47C5-936E-D17703C9A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32" y="782200"/>
            <a:ext cx="8015968" cy="758501"/>
          </a:xfrm>
        </p:spPr>
        <p:txBody>
          <a:bodyPr anchor="t">
            <a:normAutofit/>
          </a:bodyPr>
          <a:lstStyle/>
          <a:p>
            <a:r>
              <a:rPr lang="en-US" sz="4000" u="sng" dirty="0">
                <a:solidFill>
                  <a:schemeClr val="tx1">
                    <a:lumMod val="95000"/>
                  </a:schemeClr>
                </a:solidFill>
              </a:rPr>
              <a:t>References</a:t>
            </a:r>
            <a:r>
              <a:rPr lang="en-US" sz="40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095A5C-C0E1-442D-A262-3354333CA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5303520" cy="9499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84CF81-7E80-4D00-BC0F-A2166793C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7287" y="457200"/>
            <a:ext cx="53035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1CD6C-4823-462F-B32C-4B98B062A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32" y="1884303"/>
            <a:ext cx="11217897" cy="4630095"/>
          </a:xfrm>
          <a:ln w="57150">
            <a:noFill/>
          </a:ln>
        </p:spPr>
        <p:txBody>
          <a:bodyPr anchor="t"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effectLst/>
              </a:rPr>
              <a:t>Data Set: 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effectLst/>
              </a:rPr>
              <a:t>P. Cortez and A. Silva. Using Data Mining to Predict Secondary School Student Performance. In A. Brito and J. Teixeira Eds., Proceedings of 5th </a:t>
            </a:r>
            <a:r>
              <a:rPr lang="en-US" sz="2200" dirty="0" err="1">
                <a:effectLst/>
              </a:rPr>
              <a:t>FUture</a:t>
            </a:r>
            <a:r>
              <a:rPr lang="en-US" sz="2200" dirty="0">
                <a:effectLst/>
              </a:rPr>
              <a:t> </a:t>
            </a:r>
            <a:r>
              <a:rPr lang="en-US" sz="2200" dirty="0" err="1">
                <a:effectLst/>
              </a:rPr>
              <a:t>BUsiness</a:t>
            </a:r>
            <a:r>
              <a:rPr lang="en-US" sz="2200" dirty="0">
                <a:effectLst/>
              </a:rPr>
              <a:t> </a:t>
            </a:r>
            <a:r>
              <a:rPr lang="en-US" sz="2200" dirty="0" err="1">
                <a:effectLst/>
              </a:rPr>
              <a:t>TEChnology</a:t>
            </a:r>
            <a:r>
              <a:rPr lang="en-US" sz="2200" dirty="0">
                <a:effectLst/>
              </a:rPr>
              <a:t> Conference (FUBUTEC 2008) pp. 5-12, Porto, Portugal, April, 2008, EUROSIS, ISBN 978-9077381-39-7.</a:t>
            </a:r>
            <a:endParaRPr lang="en-US" sz="1800" dirty="0">
              <a:effectLst/>
              <a:highlight>
                <a:srgbClr val="00FFFF"/>
              </a:highlight>
            </a:endParaRPr>
          </a:p>
          <a:p>
            <a:endParaRPr lang="en-US" sz="2000" dirty="0">
              <a:effectLst/>
            </a:endParaRPr>
          </a:p>
          <a:p>
            <a:endParaRPr lang="en-US" sz="21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5310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9D01BD4-D715-47C5-936E-D17703C9A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32" y="782200"/>
            <a:ext cx="8015968" cy="758501"/>
          </a:xfrm>
        </p:spPr>
        <p:txBody>
          <a:bodyPr anchor="t">
            <a:normAutofit/>
          </a:bodyPr>
          <a:lstStyle/>
          <a:p>
            <a:r>
              <a:rPr lang="en-US" sz="4000" u="sng" dirty="0">
                <a:solidFill>
                  <a:schemeClr val="tx1">
                    <a:lumMod val="95000"/>
                  </a:schemeClr>
                </a:solidFill>
              </a:rPr>
              <a:t>Image References</a:t>
            </a:r>
            <a:r>
              <a:rPr lang="en-US" sz="40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095A5C-C0E1-442D-A262-3354333CA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5303520" cy="9499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84CF81-7E80-4D00-BC0F-A2166793C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7287" y="457200"/>
            <a:ext cx="53035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1CD6C-4823-462F-B32C-4B98B062A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32" y="1919930"/>
            <a:ext cx="11217897" cy="4480870"/>
          </a:xfrm>
          <a:ln w="57150">
            <a:noFill/>
          </a:ln>
        </p:spPr>
        <p:txBody>
          <a:bodyPr anchor="t"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effectLst/>
              </a:rPr>
              <a:t>BBC. (2014, July 24). </a:t>
            </a:r>
            <a:r>
              <a:rPr lang="en-US" sz="2400" i="1" dirty="0">
                <a:effectLst/>
              </a:rPr>
              <a:t>Smoking, Drinking and Drug Use Down in Young, Report Says</a:t>
            </a:r>
            <a:r>
              <a:rPr lang="en-US" sz="2400" dirty="0">
                <a:effectLst/>
              </a:rPr>
              <a:t>. BBC News. [Photograph] https://www.bbc.co.uk/news/health-28461530 </a:t>
            </a:r>
          </a:p>
          <a:p>
            <a:pPr marL="0" indent="0">
              <a:buNone/>
            </a:pPr>
            <a:endParaRPr lang="en-US" sz="2000" dirty="0">
              <a:effectLst/>
            </a:endParaRPr>
          </a:p>
          <a:p>
            <a:pPr marL="0" indent="0">
              <a:buNone/>
            </a:pPr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1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1332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48092-4A2C-4E16-B971-9ACADFFF69E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503B719-B9A6-4DC9-AA9D-06F16B758B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586370-B0FB-4108-8B4F-329716A22E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15846</TotalTime>
  <Words>1561</Words>
  <Application>Microsoft Office PowerPoint</Application>
  <PresentationFormat>Widescreen</PresentationFormat>
  <Paragraphs>206</Paragraphs>
  <Slides>25</Slides>
  <Notes>22</Notes>
  <HiddenSlides>9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Gill Sans MT</vt:lpstr>
      <vt:lpstr>Hoves</vt:lpstr>
      <vt:lpstr>Inter</vt:lpstr>
      <vt:lpstr>Times New Roman</vt:lpstr>
      <vt:lpstr>Wingdings 2</vt:lpstr>
      <vt:lpstr>Dividend</vt:lpstr>
      <vt:lpstr>Data Exploration &amp; Analysis  Term Project</vt:lpstr>
      <vt:lpstr>Outline</vt:lpstr>
      <vt:lpstr>Statistical Question</vt:lpstr>
      <vt:lpstr>Variables Used During Analysis</vt:lpstr>
      <vt:lpstr>Dalc Histogram &amp; Descriptive Statistics</vt:lpstr>
      <vt:lpstr>Walc Histogram &amp; Descriptive Statistics</vt:lpstr>
      <vt:lpstr>absences Histogram &amp; Descriptive Statistics</vt:lpstr>
      <vt:lpstr>Math Histogram &amp; Descriptive Statistics</vt:lpstr>
      <vt:lpstr>Reading Histogram &amp; Descriptive Statistics</vt:lpstr>
      <vt:lpstr>Identifying Outliers</vt:lpstr>
      <vt:lpstr>Identifying Outliers - Reading</vt:lpstr>
      <vt:lpstr>Identifying Outliers - Reading</vt:lpstr>
      <vt:lpstr>Identifying Outliers - absences</vt:lpstr>
      <vt:lpstr>Identifying Outliers - Reading</vt:lpstr>
      <vt:lpstr>Project Control Techniques</vt:lpstr>
      <vt:lpstr>Project Control Techniques Cont.</vt:lpstr>
      <vt:lpstr>Project Control Techniques Cont.</vt:lpstr>
      <vt:lpstr>Project Control Techniques Cont.</vt:lpstr>
      <vt:lpstr>Control Costs</vt:lpstr>
      <vt:lpstr>Control Costs Cont.</vt:lpstr>
      <vt:lpstr>Project Closure</vt:lpstr>
      <vt:lpstr>Project Handover</vt:lpstr>
      <vt:lpstr>Conclusion</vt:lpstr>
      <vt:lpstr>References: </vt:lpstr>
      <vt:lpstr>Image References: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Internet/Email  Use Policies</dc:title>
  <dc:creator>Mallory Young</dc:creator>
  <cp:lastModifiedBy>Mallory Young</cp:lastModifiedBy>
  <cp:revision>471</cp:revision>
  <dcterms:created xsi:type="dcterms:W3CDTF">2022-03-31T16:30:51Z</dcterms:created>
  <dcterms:modified xsi:type="dcterms:W3CDTF">2024-04-14T11:56:35Z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